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(Yes)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B2B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Month-to-month</c:v>
                  </c:pt>
                  <c:pt idx="1">
                    <c:v>One year</c:v>
                  </c:pt>
                  <c:pt idx="2">
                    <c:v>Two year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42.7</c:v>
                </c:pt>
                <c:pt idx="1">
                  <c:v>11.3</c:v>
                </c:pt>
                <c:pt idx="2">
                  <c:v>2.8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0B2B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73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Monthly Charges ($)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&quot;$&quot;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B2B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Did not churn</c:v>
                  </c:pt>
                  <c:pt idx="1">
                    <c:v>Churned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61.3</c:v>
                </c:pt>
                <c:pt idx="1">
                  <c:v>74.4</c:v>
                </c:pt>
              </c:numCache>
            </c:numRef>
          </c:val>
        </c:ser>
        <c:dLbls>
          <c:numFmt formatCode="&quot;$&quot;0" sourceLinked="0"/>
          <c:txPr>
            <a:bodyPr/>
            <a:lstStyle/>
            <a:p>
              <a:pPr>
                <a:defRPr b="0" i="0" strike="noStrike" sz="1100" u="none">
                  <a:solidFill>
                    <a:srgbClr val="0B2B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73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023B4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Logistic Reg.</c:v>
                  </c:pt>
                  <c:pt idx="1">
                    <c:v>Log. Reg. (Scaled)</c:v>
                  </c:pt>
                  <c:pt idx="2">
                    <c:v>Random Forest</c:v>
                  </c:pt>
                  <c:pt idx="3">
                    <c:v>Decision Tree</c:v>
                  </c:pt>
                  <c:pt idx="4">
                    <c:v>XGBoost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79.2</c:v>
                </c:pt>
                <c:pt idx="1">
                  <c:v>79</c:v>
                </c:pt>
                <c:pt idx="2">
                  <c:v>78.4</c:v>
                </c:pt>
                <c:pt idx="3">
                  <c:v>71.1</c:v>
                </c:pt>
                <c:pt idx="4">
                  <c:v>77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Logistic Reg.</c:v>
                  </c:pt>
                  <c:pt idx="1">
                    <c:v>Log. Reg. (Scaled)</c:v>
                  </c:pt>
                  <c:pt idx="2">
                    <c:v>Random Forest</c:v>
                  </c:pt>
                  <c:pt idx="3">
                    <c:v>Decision Tree</c:v>
                  </c:pt>
                  <c:pt idx="4">
                    <c:v>XGBoost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63.6</c:v>
                </c:pt>
                <c:pt idx="1">
                  <c:v>62.9</c:v>
                </c:pt>
                <c:pt idx="2">
                  <c:v>62.2</c:v>
                </c:pt>
                <c:pt idx="3">
                  <c:v>45.9</c:v>
                </c:pt>
                <c:pt idx="4">
                  <c:v>57.9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Logistic Reg.</c:v>
                  </c:pt>
                  <c:pt idx="1">
                    <c:v>Log. Reg. (Scaled)</c:v>
                  </c:pt>
                  <c:pt idx="2">
                    <c:v>Random Forest</c:v>
                  </c:pt>
                  <c:pt idx="3">
                    <c:v>Decision Tree</c:v>
                  </c:pt>
                  <c:pt idx="4">
                    <c:v>XGBoost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50.5</c:v>
                </c:pt>
                <c:pt idx="1">
                  <c:v>51.6</c:v>
                </c:pt>
                <c:pt idx="2">
                  <c:v>47.9</c:v>
                </c:pt>
                <c:pt idx="3">
                  <c:v>47.9</c:v>
                </c:pt>
                <c:pt idx="4">
                  <c:v>49.2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F1 Score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Logistic Reg.</c:v>
                  </c:pt>
                  <c:pt idx="1">
                    <c:v>Log. Reg. (Scaled)</c:v>
                  </c:pt>
                  <c:pt idx="2">
                    <c:v>Random Forest</c:v>
                  </c:pt>
                  <c:pt idx="3">
                    <c:v>Decision Tree</c:v>
                  </c:pt>
                  <c:pt idx="4">
                    <c:v>XGBoost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56.3</c:v>
                </c:pt>
                <c:pt idx="1">
                  <c:v>56.7</c:v>
                </c:pt>
                <c:pt idx="2">
                  <c:v>54.1</c:v>
                </c:pt>
                <c:pt idx="3">
                  <c:v>46.9</c:v>
                </c:pt>
                <c:pt idx="4">
                  <c:v>53.2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B2B2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</c:scaling>
        <c:delete val="0"/>
        <c:axPos val="l"/>
        <c:majorGridlines>
          <c:spPr>
            <a:ln w="12700" cap="flat">
              <a:solidFill>
                <a:srgbClr val="DCEBE9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73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0B2B2D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3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206240" cy="4206240"/>
          </a:xfrm>
          <a:prstGeom prst="ellipse">
            <a:avLst/>
          </a:prstGeom>
          <a:solidFill>
            <a:srgbClr val="028090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00A896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5120640"/>
            <a:ext cx="3108960" cy="3108960"/>
          </a:xfrm>
          <a:prstGeom prst="ellipse">
            <a:avLst/>
          </a:prstGeom>
          <a:solidFill>
            <a:srgbClr val="02C39A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54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Churn Prediction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40080" y="30632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4F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supervised machine learning to identify telecom customers at risk of churn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41148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7,043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40080" y="468172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analyzed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91840" y="41148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291840" y="468172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compared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0" y="41148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943600" y="468172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accuracy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6263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Customer Churn Dataset  •  Python, scikit-learn, XGBoost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CEBE9"/>
            </a:solidFill>
            <a:prstDash val="solid"/>
          </a:ln>
          <a:effectLst>
            <a:outerShdw sx="100000" sy="100000" kx="0" ky="0" algn="bl" rotWithShape="0" blurRad="76200" dist="25400" dir="5400000">
              <a:srgbClr val="1C4D4F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993392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FE3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600200" y="197510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00200" y="23317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churn prediction matters for telecom revenue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0" y="182880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CEBE9"/>
            </a:solidFill>
            <a:prstDash val="solid"/>
          </a:ln>
          <a:effectLst>
            <a:outerShdw sx="100000" sy="100000" kx="0" ky="0" algn="bl" rotWithShape="0" blurRad="76200" dist="25400" dir="5400000">
              <a:srgbClr val="1C4D4F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29400" y="1993392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FE3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452360" y="197510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452360" y="23317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7,043 customers across 21 attributes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CEBE9"/>
            </a:solidFill>
            <a:prstDash val="solid"/>
          </a:ln>
          <a:effectLst>
            <a:outerShdw sx="100000" sy="100000" kx="0" ky="0" algn="bl" rotWithShape="0" blurRad="76200" dist="25400" dir="5400000">
              <a:srgbClr val="1C4D4F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3410712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FE3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600200" y="339242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600200" y="37490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encoding, and feature engineering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0" y="324612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CEBE9"/>
            </a:solidFill>
            <a:prstDash val="solid"/>
          </a:ln>
          <a:effectLst>
            <a:outerShdw sx="100000" sy="100000" kx="0" ky="0" algn="bl" rotWithShape="0" blurRad="76200" dist="25400" dir="5400000">
              <a:srgbClr val="1C4D4F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29400" y="3410712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FE3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452360" y="339242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452360" y="37490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behind who churns and why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66344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CEBE9"/>
            </a:solidFill>
            <a:prstDash val="solid"/>
          </a:ln>
          <a:effectLst>
            <a:outerShdw sx="100000" sy="100000" kx="0" ky="0" algn="bl" rotWithShape="0" blurRad="76200" dist="25400" dir="5400000">
              <a:srgbClr val="1C4D4F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4828032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FE3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1600200" y="480974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Approach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600200" y="51663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algorithms trained and evaluated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0" y="466344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CEBE9"/>
            </a:solidFill>
            <a:prstDash val="solid"/>
          </a:ln>
          <a:effectLst>
            <a:outerShdw sx="100000" sy="100000" kx="0" ky="0" algn="bl" rotWithShape="0" blurRad="76200" dist="25400" dir="5400000">
              <a:srgbClr val="1C4D4F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629400" y="4828032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FE3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7452360" y="480974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Insights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452360" y="51663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comparison and key takeaways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Losing customers is expensive — predicting churn is cheaper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486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0B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providers operate in a highly competitive market where acquiring a new customer costs far more than retaining an existing one. Every customer who churns represents lost recurring revenue and a wasted acquisition cost.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291840"/>
            <a:ext cx="5486400" cy="2651760"/>
          </a:xfrm>
          <a:prstGeom prst="roundRect">
            <a:avLst>
              <a:gd name="adj" fmla="val 2759"/>
            </a:avLst>
          </a:prstGeom>
          <a:solidFill>
            <a:srgbClr val="023B4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35204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3931920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compare machine learning models that predict, from a customer's account and service profile, whether they are likely to churn — so retention teams can act before the customer leaves.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92240" y="164592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132320" y="16002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over acquisition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132320" y="196596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Acquiring a new customer typically costs 5-7x more than retaining one.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92240" y="306324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132320" y="30175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 system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132320" y="338328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Flagging at-risk customers lets teams intervene with offers before they leave.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92240" y="448056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4480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132320" y="44348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targeting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132320" y="480060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retention budget on customers with the highest churn probability.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Telco Customer Churn dataset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widely used, real-world-style telecom dataset capturing customer demographics, account information, subscribed services, and churn outcome.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B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24028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7,043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85800" y="288036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records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210312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B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224028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383280" y="288036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columns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0" y="210312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B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0" y="224028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080760" y="288036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features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641080" y="210312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B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41080" y="224028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778240" y="288036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dropped (missing charges)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79476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023B40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9776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31520" y="443484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gender, SeniorCitizen, Partner, Dependents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10712" y="379476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023B40"/>
          </a:solidFill>
          <a:ln/>
        </p:spPr>
      </p:sp>
      <p:sp>
        <p:nvSpPr>
          <p:cNvPr id="21" name="Text 19"/>
          <p:cNvSpPr/>
          <p:nvPr/>
        </p:nvSpPr>
        <p:spPr>
          <a:xfrm>
            <a:off x="3593592" y="39776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Info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593592" y="443484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tenure, Contract, PaperlessBilling, PaymentMethod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72784" y="379476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023B40"/>
          </a:solidFill>
          <a:ln/>
        </p:spPr>
      </p:sp>
      <p:sp>
        <p:nvSpPr>
          <p:cNvPr id="24" name="Text 22"/>
          <p:cNvSpPr/>
          <p:nvPr/>
        </p:nvSpPr>
        <p:spPr>
          <a:xfrm>
            <a:off x="6455664" y="39776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Subscribed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455664" y="443484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PhoneService, InternetService, OnlineSecurity, StreamingTV, and more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134856" y="379476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023B40"/>
          </a:solidFill>
          <a:ln/>
        </p:spPr>
      </p:sp>
      <p:sp>
        <p:nvSpPr>
          <p:cNvPr id="27" name="Text 25"/>
          <p:cNvSpPr/>
          <p:nvPr/>
        </p:nvSpPr>
        <p:spPr>
          <a:xfrm>
            <a:off x="9317736" y="39776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Charges &amp; Target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9317736" y="443484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MonthlyCharges, TotalCharges, Churn (Yes/No)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preprocessing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57276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data types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160520" y="1527048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TotalCharges was stored as text; converted to numeric with pd.to_numeric, which surfaced 11 malformed values.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00100" y="2103120"/>
            <a:ext cx="0" cy="594360"/>
          </a:xfrm>
          <a:prstGeom prst="line">
            <a:avLst/>
          </a:prstGeom>
          <a:noFill/>
          <a:ln w="19050">
            <a:solidFill>
              <a:srgbClr val="DCEB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7432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743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34440" y="271576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data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160520" y="2670048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with missing TotalCharges (11 rows) were dropped, leaving a clean, complete dataset.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0100" y="3246120"/>
            <a:ext cx="0" cy="594360"/>
          </a:xfrm>
          <a:prstGeom prst="line">
            <a:avLst/>
          </a:prstGeom>
          <a:noFill/>
          <a:ln w="19050">
            <a:solidFill>
              <a:srgbClr val="DCEB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8862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886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34440" y="385876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identifiers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160520" y="3813048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customerID was dropped — a unique key carries no predictive signal and risks leakage.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0100" y="4389120"/>
            <a:ext cx="0" cy="594360"/>
          </a:xfrm>
          <a:prstGeom prst="line">
            <a:avLst/>
          </a:prstGeom>
          <a:noFill/>
          <a:ln w="19050">
            <a:solidFill>
              <a:srgbClr val="DCEBE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50292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5029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34440" y="500176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categoricals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160520" y="4956048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 encoding for Contract (Month-to-month → Two year); one-hot encoding for all other categorical service/payment fields.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shows before modeling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CEB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37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by contract type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822960" y="2194560"/>
          <a:ext cx="48463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217920" y="155448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CEBE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92240" y="1737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monthly charges by churn status</a:t>
            </a:r>
            <a:endParaRPr lang="en-US" sz="14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6492240" y="2194560"/>
          <a:ext cx="48463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/>
          <p:nvPr/>
        </p:nvSpPr>
        <p:spPr>
          <a:xfrm>
            <a:off x="548640" y="61264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trends consistent with the notebook's crosstab and distribution plots.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 &amp; encoding strategy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023B40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 Encoding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Contract, where categories have a natural order.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68680" y="2880360"/>
            <a:ext cx="4617720" cy="502920"/>
          </a:xfrm>
          <a:prstGeom prst="roundRect">
            <a:avLst>
              <a:gd name="adj" fmla="val 10909"/>
            </a:avLst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8803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114800" y="288036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68680" y="3502152"/>
            <a:ext cx="4617720" cy="502920"/>
          </a:xfrm>
          <a:prstGeom prst="roundRect">
            <a:avLst>
              <a:gd name="adj" fmla="val 10909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350215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year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114800" y="3502152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68680" y="4123944"/>
            <a:ext cx="4617720" cy="502920"/>
          </a:xfrm>
          <a:prstGeom prst="roundRect">
            <a:avLst>
              <a:gd name="adj" fmla="val 10909"/>
            </a:avLst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4123944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year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114800" y="4123944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080760" y="1645920"/>
            <a:ext cx="553212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CEB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8745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0" y="228600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nominal categorical fields with no inherent order, turning each category into its own binary column.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3017520"/>
            <a:ext cx="1572768" cy="502920"/>
          </a:xfrm>
          <a:prstGeom prst="roundRect">
            <a:avLst>
              <a:gd name="adj" fmla="val 45455"/>
            </a:avLst>
          </a:prstGeom>
          <a:solidFill>
            <a:srgbClr val="F4F9F8"/>
          </a:solidFill>
          <a:ln w="12700">
            <a:solidFill>
              <a:srgbClr val="DCEB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3017520"/>
            <a:ext cx="148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MultipleLines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065008" y="3017520"/>
            <a:ext cx="1572768" cy="502920"/>
          </a:xfrm>
          <a:prstGeom prst="roundRect">
            <a:avLst>
              <a:gd name="adj" fmla="val 45455"/>
            </a:avLst>
          </a:prstGeom>
          <a:solidFill>
            <a:srgbClr val="F4F9F8"/>
          </a:solidFill>
          <a:ln w="12700">
            <a:solidFill>
              <a:srgbClr val="DCEB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10728" y="3017520"/>
            <a:ext cx="148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InternetService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729216" y="3017520"/>
            <a:ext cx="1572768" cy="502920"/>
          </a:xfrm>
          <a:prstGeom prst="roundRect">
            <a:avLst>
              <a:gd name="adj" fmla="val 45455"/>
            </a:avLst>
          </a:prstGeom>
          <a:solidFill>
            <a:srgbClr val="F4F9F8"/>
          </a:solidFill>
          <a:ln w="12700">
            <a:solidFill>
              <a:srgbClr val="DCEB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774936" y="3017520"/>
            <a:ext cx="148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OnlineSecurity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00800" y="3675888"/>
            <a:ext cx="1572768" cy="502920"/>
          </a:xfrm>
          <a:prstGeom prst="roundRect">
            <a:avLst>
              <a:gd name="adj" fmla="val 45455"/>
            </a:avLst>
          </a:prstGeom>
          <a:solidFill>
            <a:srgbClr val="F4F9F8"/>
          </a:solidFill>
          <a:ln w="12700">
            <a:solidFill>
              <a:srgbClr val="DCEB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3675888"/>
            <a:ext cx="148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OnlineBackup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065008" y="3675888"/>
            <a:ext cx="1572768" cy="502920"/>
          </a:xfrm>
          <a:prstGeom prst="roundRect">
            <a:avLst>
              <a:gd name="adj" fmla="val 45455"/>
            </a:avLst>
          </a:prstGeom>
          <a:solidFill>
            <a:srgbClr val="F4F9F8"/>
          </a:solidFill>
          <a:ln w="12700">
            <a:solidFill>
              <a:srgbClr val="DCEB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10728" y="3675888"/>
            <a:ext cx="148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DeviceProtection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729216" y="3675888"/>
            <a:ext cx="1572768" cy="502920"/>
          </a:xfrm>
          <a:prstGeom prst="roundRect">
            <a:avLst>
              <a:gd name="adj" fmla="val 45455"/>
            </a:avLst>
          </a:prstGeom>
          <a:solidFill>
            <a:srgbClr val="F4F9F8"/>
          </a:solidFill>
          <a:ln w="12700">
            <a:solidFill>
              <a:srgbClr val="DCEB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774936" y="3675888"/>
            <a:ext cx="148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TechSupport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400800" y="4334256"/>
            <a:ext cx="1572768" cy="502920"/>
          </a:xfrm>
          <a:prstGeom prst="roundRect">
            <a:avLst>
              <a:gd name="adj" fmla="val 45455"/>
            </a:avLst>
          </a:prstGeom>
          <a:solidFill>
            <a:srgbClr val="F4F9F8"/>
          </a:solidFill>
          <a:ln w="12700">
            <a:solidFill>
              <a:srgbClr val="DCEB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46520" y="4334256"/>
            <a:ext cx="148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StreamingTV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065008" y="4334256"/>
            <a:ext cx="1572768" cy="502920"/>
          </a:xfrm>
          <a:prstGeom prst="roundRect">
            <a:avLst>
              <a:gd name="adj" fmla="val 45455"/>
            </a:avLst>
          </a:prstGeom>
          <a:solidFill>
            <a:srgbClr val="F4F9F8"/>
          </a:solidFill>
          <a:ln w="12700">
            <a:solidFill>
              <a:srgbClr val="DCEBE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10728" y="4334256"/>
            <a:ext cx="148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StreamingMovies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9729216" y="4334256"/>
            <a:ext cx="1572768" cy="502920"/>
          </a:xfrm>
          <a:prstGeom prst="roundRect">
            <a:avLst>
              <a:gd name="adj" fmla="val 45455"/>
            </a:avLst>
          </a:prstGeom>
          <a:solidFill>
            <a:srgbClr val="F4F9F8"/>
          </a:solidFill>
          <a:ln w="12700">
            <a:solidFill>
              <a:srgbClr val="DCEB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774936" y="4334256"/>
            <a:ext cx="148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PaymentMethod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Modeling approach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0020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Split:  80% train  ·  20% test   —  random_state = 42, target variable = Churn (Yes/No)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classification algorithms were trained and evaluated on identical splits: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1993392" cy="265176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DCEB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71016" y="34290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1271016" y="3429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4160520"/>
            <a:ext cx="17190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85800" y="4846320"/>
            <a:ext cx="17190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linear classifier on encoded features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70632" y="3200400"/>
            <a:ext cx="1993392" cy="265176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DCEB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93008" y="342900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3493008" y="3429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907792" y="4160520"/>
            <a:ext cx="17190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(Scaled)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907792" y="4846320"/>
            <a:ext cx="17190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 with StandardScaler-normalized inputs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992624" y="3200400"/>
            <a:ext cx="1993392" cy="265176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DCEBE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15000" y="342900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5715000" y="3429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129784" y="4160520"/>
            <a:ext cx="17190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129784" y="4846320"/>
            <a:ext cx="17190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tree classifier capturing non-linear splits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214616" y="3200400"/>
            <a:ext cx="1993392" cy="265176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DCEBE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36992" y="34290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7936992" y="3429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351776" y="4160520"/>
            <a:ext cx="17190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351776" y="4846320"/>
            <a:ext cx="17190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decision trees for stability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436608" y="3200400"/>
            <a:ext cx="1993392" cy="265176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DCEBE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158984" y="342900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9" name="Text 27"/>
          <p:cNvSpPr/>
          <p:nvPr/>
        </p:nvSpPr>
        <p:spPr>
          <a:xfrm>
            <a:off x="10158984" y="3429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573768" y="4160520"/>
            <a:ext cx="17190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9573768" y="4846320"/>
            <a:ext cx="17190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Gradient-boosted trees for higher predictive power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performance comparison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088136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CEBE9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822960" y="1691640"/>
          <a:ext cx="1033272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023B4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OVERALL MODEL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22960" y="35661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4F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accuracy (79.2%) and precision (63.6%) of all five models — a strong, interpretable baseline.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4572000"/>
            <a:ext cx="3017520" cy="0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7091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56.7%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22960" y="52120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F1 score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4F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(scaled variant)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34840" y="164592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591056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type drives churn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1938528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customers churn far more often than those on one- or two-year contracts — the single strongest retention lever.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434840" y="269748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2642616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charges, higher risk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0" y="2990088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who churned had noticeably higher average monthly charges than those who stayed.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434840" y="374904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3694176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 had limited impact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0" y="4041648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improved logistic regression's F1 score only marginally (56.3% → 56.7%), suggesting the encoded features were already well-behaved.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434840" y="480060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4745736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ensembles didn't beat linear models here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0" y="5093208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and XGBoost underperformed logistic regression, and a single Decision Tree was the weakest model overall — likely overfitting without tuning.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3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predictions into retention action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257800" cy="2011680"/>
          </a:xfrm>
          <a:prstGeom prst="roundRect">
            <a:avLst>
              <a:gd name="adj" fmla="val 3636"/>
            </a:avLst>
          </a:prstGeom>
          <a:solidFill>
            <a:srgbClr val="07474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116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month-to-month customers first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4F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retention offers and contract-upgrade incentives for the highest-risk segment.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5257800" cy="2011680"/>
          </a:xfrm>
          <a:prstGeom prst="roundRect">
            <a:avLst>
              <a:gd name="adj" fmla="val 3636"/>
            </a:avLst>
          </a:prstGeom>
          <a:solidFill>
            <a:srgbClr val="07474C"/>
          </a:solidFill>
          <a:ln/>
        </p:spPr>
      </p:sp>
      <p:sp>
        <p:nvSpPr>
          <p:cNvPr id="9" name="Text 7"/>
          <p:cNvSpPr/>
          <p:nvPr/>
        </p:nvSpPr>
        <p:spPr>
          <a:xfrm>
            <a:off x="6446520" y="20116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46520" y="246888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customers monthly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46520" y="2926080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4F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model on the active customer base each month to catch rising churn risk early.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5257800" cy="2011680"/>
          </a:xfrm>
          <a:prstGeom prst="roundRect">
            <a:avLst>
              <a:gd name="adj" fmla="val 3636"/>
            </a:avLst>
          </a:prstGeom>
          <a:solidFill>
            <a:srgbClr val="07474C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2976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22960" y="475488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high-value customers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22960" y="5212080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4F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with high monthly charges are more likely to churn — proactively offer loyalty pricing or bundles.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72200" y="4114800"/>
            <a:ext cx="5257800" cy="2011680"/>
          </a:xfrm>
          <a:prstGeom prst="roundRect">
            <a:avLst>
              <a:gd name="adj" fmla="val 3636"/>
            </a:avLst>
          </a:prstGeom>
          <a:solidFill>
            <a:srgbClr val="07474C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42976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46520" y="475488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recall with tuning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446520" y="5212080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4F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recall (~50%) means many churners are missed; hyperparameter tuning and class-balancing (e.g., SMOTE) should be next.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next steps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CEB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4663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built an end-to-end churn prediction pipeline — from raw telecom data to a compared set of five ML models. Logistic Regression emerged as the strongest, most interpretable performer, with contract type and monthly charges as the clearest churn signals.</a:t>
            </a:r>
            <a:endParaRPr lang="en-US" sz="12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4297680"/>
          <a:ext cx="4663440" cy="1463040"/>
        </p:xfrm>
        <a:graphic>
          <a:graphicData uri="http://schemas.openxmlformats.org/drawingml/2006/table">
            <a:tbl>
              <a:tblPr/>
              <a:tblGrid>
                <a:gridCol w="2331720"/>
                <a:gridCol w="23317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accuracy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79.2% (Logistic Regression)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F1 score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56.7% (Scaled Logistic Regression)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 size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7,032 customers after cleaning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080760" y="1645920"/>
            <a:ext cx="5532120" cy="4297680"/>
          </a:xfrm>
          <a:prstGeom prst="roundRect">
            <a:avLst>
              <a:gd name="adj" fmla="val 1702"/>
            </a:avLst>
          </a:prstGeom>
          <a:solidFill>
            <a:srgbClr val="023B40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0" y="18745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400800" y="2423160"/>
            <a:ext cx="146304" cy="14630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8"/>
          <p:cNvSpPr/>
          <p:nvPr/>
        </p:nvSpPr>
        <p:spPr>
          <a:xfrm>
            <a:off x="6720840" y="228600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 (GridSearch/Optuna) for Random Forest &amp; XGBoost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00800" y="2999232"/>
            <a:ext cx="146304" cy="14630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0"/>
          <p:cNvSpPr/>
          <p:nvPr/>
        </p:nvSpPr>
        <p:spPr>
          <a:xfrm>
            <a:off x="6720840" y="2862072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class imbalance with SMOTE or class-weighting to boost recall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00800" y="3575304"/>
            <a:ext cx="146304" cy="14630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2"/>
          <p:cNvSpPr/>
          <p:nvPr/>
        </p:nvSpPr>
        <p:spPr>
          <a:xfrm>
            <a:off x="6720840" y="3438144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SHAP-based feature importance for model explainability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400800" y="4151376"/>
            <a:ext cx="146304" cy="14630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4"/>
          <p:cNvSpPr/>
          <p:nvPr/>
        </p:nvSpPr>
        <p:spPr>
          <a:xfrm>
            <a:off x="6720840" y="4014216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model behind an API to score customers in real time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400800" y="4727448"/>
            <a:ext cx="146304" cy="14630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9" name="Text 16"/>
          <p:cNvSpPr/>
          <p:nvPr/>
        </p:nvSpPr>
        <p:spPr>
          <a:xfrm>
            <a:off x="6720840" y="4590288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 retention offers against model-flagged, high-risk customers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2026-08-19T08:05:48Z</dcterms:created>
  <dcterms:modified xsi:type="dcterms:W3CDTF">2026-08-19T08:05:48Z</dcterms:modified>
</cp:coreProperties>
</file>